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Nunito Semi Bold"/>
      <p:regular r:id="rId13"/>
    </p:embeddedFont>
    <p:embeddedFont>
      <p:font typeface="Nunito Semi Bold"/>
      <p:regular r:id="rId14"/>
    </p:embeddedFont>
    <p:embeddedFont>
      <p:font typeface="Nunito Semi Bold"/>
      <p:regular r:id="rId15"/>
    </p:embeddedFont>
    <p:embeddedFont>
      <p:font typeface="Nunito Semi Bold"/>
      <p:regular r:id="rId16"/>
    </p:embeddedFont>
    <p:embeddedFont>
      <p:font typeface="PT Sans"/>
      <p:regular r:id="rId17"/>
    </p:embeddedFont>
    <p:embeddedFont>
      <p:font typeface="PT Sans"/>
      <p:regular r:id="rId18"/>
    </p:embeddedFont>
    <p:embeddedFont>
      <p:font typeface="PT Sans"/>
      <p:regular r:id="rId19"/>
    </p:embeddedFont>
    <p:embeddedFont>
      <p:font typeface="PT Sans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slideLayout" Target="../slideLayouts/slideLayout6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68747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Organização Projeto-A3-GQS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454479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Apresentação do Projeto A3-GQS: Sistema Bancário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4124" y="4106704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Participantes: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24124" y="4758928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João Luiz da Silva - 82420546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24124" y="522565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Gabriel Fernandes Bispo - 823143267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324124" y="5692378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Pedro Zorzete Brisolla de Campo - 823147399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324124" y="615910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Pedro Henrique Braz Lira - 823117291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9117" y="790456"/>
            <a:ext cx="7578566" cy="1315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Contribuição da Organização Projeto-A3-GQS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6269117" y="2441496"/>
            <a:ext cx="3677483" cy="2565797"/>
          </a:xfrm>
          <a:prstGeom prst="roundRect">
            <a:avLst>
              <a:gd name="adj" fmla="val 13074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15576" y="2687955"/>
            <a:ext cx="670917" cy="670917"/>
          </a:xfrm>
          <a:prstGeom prst="roundRect">
            <a:avLst>
              <a:gd name="adj" fmla="val 13627745"/>
            </a:avLst>
          </a:prstGeom>
          <a:solidFill>
            <a:srgbClr val="2D4DF2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0123" y="2872502"/>
            <a:ext cx="301823" cy="3018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15576" y="3582472"/>
            <a:ext cx="2631043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Repositório GitHub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6515576" y="4045506"/>
            <a:ext cx="3184565" cy="71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Criação do A3-Sistema-Bancario e configuração inicial.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10170200" y="2441496"/>
            <a:ext cx="3677483" cy="2565797"/>
          </a:xfrm>
          <a:prstGeom prst="roundRect">
            <a:avLst>
              <a:gd name="adj" fmla="val 13074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416659" y="2687955"/>
            <a:ext cx="670917" cy="670917"/>
          </a:xfrm>
          <a:prstGeom prst="roundRect">
            <a:avLst>
              <a:gd name="adj" fmla="val 13627745"/>
            </a:avLst>
          </a:prstGeom>
          <a:solidFill>
            <a:srgbClr val="018CE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1206" y="2872502"/>
            <a:ext cx="301823" cy="3018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416659" y="3582472"/>
            <a:ext cx="2631043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Código Legado</a:t>
            </a:r>
            <a:endParaRPr lang="en-US" sz="2050" dirty="0"/>
          </a:p>
        </p:txBody>
      </p:sp>
      <p:sp>
        <p:nvSpPr>
          <p:cNvPr id="13" name="Text 8"/>
          <p:cNvSpPr/>
          <p:nvPr/>
        </p:nvSpPr>
        <p:spPr>
          <a:xfrm>
            <a:off x="10416659" y="4045506"/>
            <a:ext cx="3184565" cy="71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Inclusão do código original para refatoração de Clean Code.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6269117" y="5230892"/>
            <a:ext cx="7578566" cy="2208133"/>
          </a:xfrm>
          <a:prstGeom prst="roundRect">
            <a:avLst>
              <a:gd name="adj" fmla="val 15192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515576" y="5477351"/>
            <a:ext cx="670917" cy="670917"/>
          </a:xfrm>
          <a:prstGeom prst="roundRect">
            <a:avLst>
              <a:gd name="adj" fmla="val 13627745"/>
            </a:avLst>
          </a:prstGeom>
          <a:solidFill>
            <a:srgbClr val="DA33B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00123" y="5661898"/>
            <a:ext cx="301823" cy="30182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15576" y="6371868"/>
            <a:ext cx="2631043" cy="32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Merge Inicial</a:t>
            </a:r>
            <a:endParaRPr lang="en-US" sz="2050" dirty="0"/>
          </a:p>
        </p:txBody>
      </p:sp>
      <p:sp>
        <p:nvSpPr>
          <p:cNvPr id="18" name="Text 12"/>
          <p:cNvSpPr/>
          <p:nvPr/>
        </p:nvSpPr>
        <p:spPr>
          <a:xfrm>
            <a:off x="6515576" y="6834902"/>
            <a:ext cx="7085648" cy="357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Integração main e develop para histórico consolidado.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0796" y="511373"/>
            <a:ext cx="7547967" cy="54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Contribuição de Pedro Braz no Código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0796" y="1522928"/>
            <a:ext cx="2327910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Refatoração de Classes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50796" y="1982272"/>
            <a:ext cx="6850975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Refatorou Cliente e PessoaFisica em app.py, adicionando type hints e List["Conta"].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0796" y="2447092"/>
            <a:ext cx="6850975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0796" y="2930485"/>
            <a:ext cx="2187773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Exceção de Domínio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0796" y="3389828"/>
            <a:ext cx="6850975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Implementou RegraDeNegocioError para sinalizar violações de regras de negócio.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0796" y="3854648"/>
            <a:ext cx="6850975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0796" y="4338042"/>
            <a:ext cx="2187773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Encapsulamento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0796" y="4797385"/>
            <a:ext cx="6850975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Atributos privados e acesso via @property para entidades de cliente.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0796" y="5262205"/>
            <a:ext cx="6850975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0796" y="5745599"/>
            <a:ext cx="2187773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Ajustes Finais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0796" y="6204942"/>
            <a:ext cx="6850975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Corrigiu mensagens de erro e formatou datas no histórico de transações.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148995" y="1825109"/>
            <a:ext cx="185857" cy="849630"/>
          </a:xfrm>
          <a:prstGeom prst="roundRect">
            <a:avLst>
              <a:gd name="adj" fmla="val 150091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63019" y="1703070"/>
            <a:ext cx="557808" cy="557808"/>
          </a:xfrm>
          <a:prstGeom prst="roundRect">
            <a:avLst>
              <a:gd name="adj" fmla="val 81964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02441" y="1842611"/>
            <a:ext cx="278844" cy="27884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706683" y="1732121"/>
            <a:ext cx="2187773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Modularização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706683" y="2191464"/>
            <a:ext cx="5280422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Extração de Cliente, Erro e PessoaFisica para src/dominio.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8427839" y="3139559"/>
            <a:ext cx="185857" cy="1147167"/>
          </a:xfrm>
          <a:prstGeom prst="roundRect">
            <a:avLst>
              <a:gd name="adj" fmla="val 150091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41863" y="3017520"/>
            <a:ext cx="557808" cy="557808"/>
          </a:xfrm>
          <a:prstGeom prst="roundRect">
            <a:avLst>
              <a:gd name="adj" fmla="val 81964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1286" y="3157061"/>
            <a:ext cx="278844" cy="2788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985528" y="3046571"/>
            <a:ext cx="2187773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Projeto Reorganizado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8985528" y="3505914"/>
            <a:ext cx="5001578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Estrutura mais clara, app.py menos carregado, lógica de domínio em módulos.</a:t>
            </a:r>
            <a:endParaRPr lang="en-US" sz="1450" dirty="0"/>
          </a:p>
        </p:txBody>
      </p:sp>
      <p:sp>
        <p:nvSpPr>
          <p:cNvPr id="24" name="Shape 20"/>
          <p:cNvSpPr/>
          <p:nvPr/>
        </p:nvSpPr>
        <p:spPr>
          <a:xfrm>
            <a:off x="8706803" y="4751546"/>
            <a:ext cx="185857" cy="1147167"/>
          </a:xfrm>
          <a:prstGeom prst="roundRect">
            <a:avLst>
              <a:gd name="adj" fmla="val 150091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520827" y="4629507"/>
            <a:ext cx="557808" cy="557808"/>
          </a:xfrm>
          <a:prstGeom prst="roundRect">
            <a:avLst>
              <a:gd name="adj" fmla="val 81964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0249" y="4769048"/>
            <a:ext cx="278844" cy="2788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264491" y="4658558"/>
            <a:ext cx="2424946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Classe de Erro Dedicada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9264491" y="5117902"/>
            <a:ext cx="4722614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Consolidação do tratamento de erros de regra de negócio em erro.py.</a:t>
            </a:r>
            <a:endParaRPr lang="en-US" sz="1450" dirty="0"/>
          </a:p>
        </p:txBody>
      </p:sp>
      <p:sp>
        <p:nvSpPr>
          <p:cNvPr id="29" name="Shape 24"/>
          <p:cNvSpPr/>
          <p:nvPr/>
        </p:nvSpPr>
        <p:spPr>
          <a:xfrm>
            <a:off x="8985766" y="6363533"/>
            <a:ext cx="185857" cy="1147167"/>
          </a:xfrm>
          <a:prstGeom prst="roundRect">
            <a:avLst>
              <a:gd name="adj" fmla="val 150091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799790" y="6241494"/>
            <a:ext cx="557808" cy="557808"/>
          </a:xfrm>
          <a:prstGeom prst="roundRect">
            <a:avLst>
              <a:gd name="adj" fmla="val 81964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39213" y="6381036"/>
            <a:ext cx="278844" cy="27884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543455" y="6270546"/>
            <a:ext cx="2187773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Merge de PR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9543455" y="6729889"/>
            <a:ext cx="4443651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Integração da refatoração de usuário ao branch develop.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994" y="560546"/>
            <a:ext cx="8809792" cy="59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Contribuição de Gabriel Bispo no Código</a:t>
            </a:r>
            <a:endParaRPr lang="en-US" sz="3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994" y="1565791"/>
            <a:ext cx="1017151" cy="12206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32503" y="1769150"/>
            <a:ext cx="2465665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Refatoração de Contas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932503" y="2190274"/>
            <a:ext cx="11985903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Melhoria da coesão em Conta e Historico, ajuste de acesso ao histórico.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994" y="2786420"/>
            <a:ext cx="1017151" cy="12206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32503" y="2989778"/>
            <a:ext cx="3140154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Modularização de Operações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932503" y="3410903"/>
            <a:ext cx="11985903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Criação de operacoes/contaCorrente.py, extraindo lógica de limites.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94" y="4007048"/>
            <a:ext cx="1017151" cy="12206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32503" y="4210407"/>
            <a:ext cx="2444472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Liderança Arquitetural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932503" y="4631531"/>
            <a:ext cx="11985903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Modularização de operações para pacotes independentes de transações e contas.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94" y="5227677"/>
            <a:ext cx="1017151" cy="122062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32503" y="5431036"/>
            <a:ext cx="239351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Testes Unitários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932503" y="5852160"/>
            <a:ext cx="11985903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Criação da pasta tests com arquivos de teste e configuração do pytest.ini.</a:t>
            </a:r>
            <a:endParaRPr lang="en-US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994" y="6448306"/>
            <a:ext cx="1017151" cy="122062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32503" y="6651665"/>
            <a:ext cx="329279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Remoção de Arquivos Antigos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932503" y="7072789"/>
            <a:ext cx="11985903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Consolidação da nova estrutura modular e testável.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24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3644" y="458510"/>
            <a:ext cx="7302103" cy="490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Contribuição de Pedro Zorzete no Código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583644" y="1199198"/>
            <a:ext cx="3905012" cy="2421850"/>
          </a:xfrm>
          <a:prstGeom prst="roundRect">
            <a:avLst>
              <a:gd name="adj" fmla="val 10329"/>
            </a:avLst>
          </a:prstGeom>
          <a:solidFill>
            <a:srgbClr val="F3F3FF"/>
          </a:solidFill>
          <a:ln w="15240">
            <a:solidFill>
              <a:srgbClr val="2D4DF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5572" y="1381125"/>
            <a:ext cx="500301" cy="500301"/>
          </a:xfrm>
          <a:prstGeom prst="roundRect">
            <a:avLst>
              <a:gd name="adj" fmla="val 18275170"/>
            </a:avLst>
          </a:prstGeom>
          <a:solidFill>
            <a:srgbClr val="2D4DF2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3208" y="1518642"/>
            <a:ext cx="225028" cy="2250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5572" y="2048113"/>
            <a:ext cx="3541157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Criação de Pacotes e Lógica de Transações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65572" y="2638663"/>
            <a:ext cx="3541157" cy="800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Criação do pacote 'operacoes' (Transacao, Deposito, Saque) e implementação da lógica para registrar transações bem-sucedidas.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655344" y="1199198"/>
            <a:ext cx="3905012" cy="2421850"/>
          </a:xfrm>
          <a:prstGeom prst="roundRect">
            <a:avLst>
              <a:gd name="adj" fmla="val 10329"/>
            </a:avLst>
          </a:prstGeom>
          <a:solidFill>
            <a:srgbClr val="F3F3FF"/>
          </a:solidFill>
          <a:ln w="15240">
            <a:solidFill>
              <a:srgbClr val="018CE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37271" y="1381125"/>
            <a:ext cx="500301" cy="500301"/>
          </a:xfrm>
          <a:prstGeom prst="roundRect">
            <a:avLst>
              <a:gd name="adj" fmla="val 18275170"/>
            </a:avLst>
          </a:prstGeom>
          <a:solidFill>
            <a:srgbClr val="018CE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74908" y="1518642"/>
            <a:ext cx="225028" cy="2250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37271" y="2048113"/>
            <a:ext cx="3541157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Modularização e Ajustes de Importações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4837271" y="2638663"/>
            <a:ext cx="3541157" cy="800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Finalização da modularização geral do sistema, garantindo a organização e o correto funcionamento das dependências.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83644" y="3787735"/>
            <a:ext cx="3905012" cy="2176582"/>
          </a:xfrm>
          <a:prstGeom prst="roundRect">
            <a:avLst>
              <a:gd name="adj" fmla="val 11493"/>
            </a:avLst>
          </a:prstGeom>
          <a:solidFill>
            <a:srgbClr val="F3F3FF"/>
          </a:solidFill>
          <a:ln w="15240">
            <a:solidFill>
              <a:srgbClr val="DA33B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65572" y="3969663"/>
            <a:ext cx="500301" cy="500301"/>
          </a:xfrm>
          <a:prstGeom prst="roundRect">
            <a:avLst>
              <a:gd name="adj" fmla="val 18275170"/>
            </a:avLst>
          </a:prstGeom>
          <a:solidFill>
            <a:srgbClr val="DA33B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3208" y="4107180"/>
            <a:ext cx="225028" cy="2250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65572" y="4636651"/>
            <a:ext cx="2671643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Merge e Integração de Código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65572" y="4981932"/>
            <a:ext cx="3541157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Realização do merge da PR "refatorar-operacoes", integrando importantes melhorias ao projeto.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55344" y="3787735"/>
            <a:ext cx="3905012" cy="2176582"/>
          </a:xfrm>
          <a:prstGeom prst="roundRect">
            <a:avLst>
              <a:gd name="adj" fmla="val 11493"/>
            </a:avLst>
          </a:prstGeom>
          <a:solidFill>
            <a:srgbClr val="F3F3FF"/>
          </a:solidFill>
          <a:ln w="15240">
            <a:solidFill>
              <a:srgbClr val="2D4DF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837271" y="3969663"/>
            <a:ext cx="500301" cy="500301"/>
          </a:xfrm>
          <a:prstGeom prst="roundRect">
            <a:avLst>
              <a:gd name="adj" fmla="val 18275170"/>
            </a:avLst>
          </a:prstGeom>
          <a:solidFill>
            <a:srgbClr val="2D4DF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74908" y="4107180"/>
            <a:ext cx="225028" cy="22502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837271" y="4636651"/>
            <a:ext cx="223766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Revisão e Documentação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837271" y="4981932"/>
            <a:ext cx="3541157" cy="800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Atuação na revisão de código, correção de problemas e elaboração do README oficial do projeto.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583644" y="6131004"/>
            <a:ext cx="7976711" cy="1642943"/>
          </a:xfrm>
          <a:prstGeom prst="roundRect">
            <a:avLst>
              <a:gd name="adj" fmla="val 15226"/>
            </a:avLst>
          </a:prstGeom>
          <a:solidFill>
            <a:srgbClr val="F3F3FF"/>
          </a:solidFill>
          <a:ln w="15240">
            <a:solidFill>
              <a:srgbClr val="018CE1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65572" y="6312932"/>
            <a:ext cx="500301" cy="500301"/>
          </a:xfrm>
          <a:prstGeom prst="roundRect">
            <a:avLst>
              <a:gd name="adj" fmla="val 18275170"/>
            </a:avLst>
          </a:prstGeom>
          <a:solidFill>
            <a:srgbClr val="018CE1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3208" y="6450449"/>
            <a:ext cx="225028" cy="22502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65572" y="6979920"/>
            <a:ext cx="2032159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Manutenção Estrutural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765572" y="7325201"/>
            <a:ext cx="7612856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Garantia da consistência estrutural do código através de manutenções contínuas.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07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3063" y="544592"/>
            <a:ext cx="7757874" cy="1164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Contribuição de João Luiz da Silva no Código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841534" y="2006441"/>
            <a:ext cx="22860" cy="1980009"/>
          </a:xfrm>
          <a:prstGeom prst="roundRect">
            <a:avLst>
              <a:gd name="adj" fmla="val 1299436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18674" y="2217777"/>
            <a:ext cx="396002" cy="22860"/>
          </a:xfrm>
          <a:prstGeom prst="roundRect">
            <a:avLst>
              <a:gd name="adj" fmla="val 1299436"/>
            </a:avLst>
          </a:prstGeom>
          <a:solidFill>
            <a:srgbClr val="4666FF"/>
          </a:solidFill>
          <a:ln/>
        </p:spPr>
      </p:sp>
      <p:sp>
        <p:nvSpPr>
          <p:cNvPr id="6" name="Shape 3"/>
          <p:cNvSpPr/>
          <p:nvPr/>
        </p:nvSpPr>
        <p:spPr>
          <a:xfrm>
            <a:off x="767298" y="2154972"/>
            <a:ext cx="148471" cy="148471"/>
          </a:xfrm>
          <a:prstGeom prst="roundRect">
            <a:avLst>
              <a:gd name="adj" fmla="val 307939"/>
            </a:avLst>
          </a:prstGeom>
          <a:solidFill>
            <a:srgbClr val="2D4DF2"/>
          </a:solidFill>
          <a:ln/>
        </p:spPr>
      </p:sp>
      <p:sp>
        <p:nvSpPr>
          <p:cNvPr id="7" name="Text 4"/>
          <p:cNvSpPr/>
          <p:nvPr/>
        </p:nvSpPr>
        <p:spPr>
          <a:xfrm>
            <a:off x="1633657" y="2074426"/>
            <a:ext cx="5334119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Limpeza final do arquivo de interface src/app/cli.py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18674" y="3009781"/>
            <a:ext cx="396002" cy="22860"/>
          </a:xfrm>
          <a:prstGeom prst="roundRect">
            <a:avLst>
              <a:gd name="adj" fmla="val 1299436"/>
            </a:avLst>
          </a:prstGeom>
          <a:solidFill>
            <a:srgbClr val="1AA5FA"/>
          </a:solidFill>
          <a:ln/>
        </p:spPr>
      </p:sp>
      <p:sp>
        <p:nvSpPr>
          <p:cNvPr id="9" name="Shape 6"/>
          <p:cNvSpPr/>
          <p:nvPr/>
        </p:nvSpPr>
        <p:spPr>
          <a:xfrm>
            <a:off x="767298" y="2946975"/>
            <a:ext cx="148471" cy="148471"/>
          </a:xfrm>
          <a:prstGeom prst="roundRect">
            <a:avLst>
              <a:gd name="adj" fmla="val 307939"/>
            </a:avLst>
          </a:prstGeom>
          <a:solidFill>
            <a:srgbClr val="018CE1"/>
          </a:solidFill>
          <a:ln/>
        </p:spPr>
      </p:sp>
      <p:sp>
        <p:nvSpPr>
          <p:cNvPr id="10" name="Text 7"/>
          <p:cNvSpPr/>
          <p:nvPr/>
        </p:nvSpPr>
        <p:spPr>
          <a:xfrm>
            <a:off x="1633657" y="2866430"/>
            <a:ext cx="4822388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Deixou o arquivo de CLI mais enxuto e legível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18674" y="3801785"/>
            <a:ext cx="396002" cy="22860"/>
          </a:xfrm>
          <a:prstGeom prst="roundRect">
            <a:avLst>
              <a:gd name="adj" fmla="val 1299436"/>
            </a:avLst>
          </a:prstGeom>
          <a:solidFill>
            <a:srgbClr val="F34CD8"/>
          </a:solidFill>
          <a:ln/>
        </p:spPr>
      </p:sp>
      <p:sp>
        <p:nvSpPr>
          <p:cNvPr id="12" name="Shape 9"/>
          <p:cNvSpPr/>
          <p:nvPr/>
        </p:nvSpPr>
        <p:spPr>
          <a:xfrm>
            <a:off x="767298" y="3738979"/>
            <a:ext cx="148471" cy="148471"/>
          </a:xfrm>
          <a:prstGeom prst="roundRect">
            <a:avLst>
              <a:gd name="adj" fmla="val 307939"/>
            </a:avLst>
          </a:prstGeom>
          <a:solidFill>
            <a:srgbClr val="DA33BF"/>
          </a:solidFill>
          <a:ln/>
        </p:spPr>
      </p:sp>
      <p:sp>
        <p:nvSpPr>
          <p:cNvPr id="13" name="Text 10"/>
          <p:cNvSpPr/>
          <p:nvPr/>
        </p:nvSpPr>
        <p:spPr>
          <a:xfrm>
            <a:off x="1633657" y="3658433"/>
            <a:ext cx="5148977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Contribuição na etapa de polimento da aplicação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93063" y="4283393"/>
            <a:ext cx="2795707" cy="349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Conclusão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93063" y="4929783"/>
            <a:ext cx="7757874" cy="1583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As contribuições para a refatoração e a aplicação dos princípios de Clean Code foram cruciais para aprimorar o projeto. Este processo não só elevou a </a:t>
            </a:r>
            <a:pPr algn="l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qualidade do código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tornando-o mais robusto e eficiente, mas também melhorou significativamente a </a:t>
            </a:r>
            <a:pPr algn="l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manutenibilidade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 a </a:t>
            </a:r>
            <a:pPr algn="l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legibilidade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A </a:t>
            </a:r>
            <a:pPr algn="l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estrutura modular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do sistema bancário foi reforçada, facilitando futuras atualizações e a colaboração da equipe.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93063" y="6736080"/>
            <a:ext cx="7757874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 trabalho colaborativo e a dedicação em seguir as melhores práticas de desenvolvimento, incluindo a refatoração contínua, são essenciais para construir e manter sistemas complexos e de alta performance.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2025-11-27T13:13:11Z</dcterms:created>
  <dcterms:modified xsi:type="dcterms:W3CDTF">2025-11-27T13:13:11Z</dcterms:modified>
</cp:coreProperties>
</file>